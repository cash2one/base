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2" r:id="rId3"/>
    <p:sldId id="273" r:id="rId4"/>
    <p:sldId id="307" r:id="rId5"/>
    <p:sldId id="275" r:id="rId6"/>
    <p:sldId id="277" r:id="rId7"/>
    <p:sldId id="293" r:id="rId8"/>
    <p:sldId id="294" r:id="rId9"/>
    <p:sldId id="280" r:id="rId10"/>
    <p:sldId id="279" r:id="rId11"/>
    <p:sldId id="295" r:id="rId12"/>
    <p:sldId id="296" r:id="rId13"/>
    <p:sldId id="297" r:id="rId14"/>
    <p:sldId id="281" r:id="rId15"/>
    <p:sldId id="298" r:id="rId16"/>
    <p:sldId id="299" r:id="rId17"/>
    <p:sldId id="283" r:id="rId18"/>
    <p:sldId id="282" r:id="rId19"/>
    <p:sldId id="300" r:id="rId20"/>
    <p:sldId id="301" r:id="rId21"/>
    <p:sldId id="302" r:id="rId22"/>
    <p:sldId id="284" r:id="rId23"/>
    <p:sldId id="288" r:id="rId24"/>
    <p:sldId id="289" r:id="rId25"/>
    <p:sldId id="290" r:id="rId26"/>
    <p:sldId id="291" r:id="rId27"/>
    <p:sldId id="292" r:id="rId28"/>
    <p:sldId id="305" r:id="rId29"/>
    <p:sldId id="306" r:id="rId30"/>
    <p:sldId id="286" r:id="rId31"/>
    <p:sldId id="303" r:id="rId32"/>
    <p:sldId id="304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60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86374" autoAdjust="0"/>
  </p:normalViewPr>
  <p:slideViewPr>
    <p:cSldViewPr snapToGrid="0">
      <p:cViewPr varScale="1">
        <p:scale>
          <a:sx n="116" d="100"/>
          <a:sy n="116" d="100"/>
        </p:scale>
        <p:origin x="390" y="126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7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FEB85-2ECB-43E7-9B74-EAC11021FD33}" type="datetimeFigureOut">
              <a:rPr lang="zh-CN" altLang="en-US" smtClean="0"/>
              <a:pPr/>
              <a:t>2016/5/13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7CFA3-9E4F-4334-B559-C7CD4B5BABD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1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-1" y="1481855"/>
            <a:ext cx="12192001" cy="2653322"/>
            <a:chOff x="-1" y="1656366"/>
            <a:chExt cx="12192001" cy="2653322"/>
          </a:xfrm>
        </p:grpSpPr>
        <p:sp>
          <p:nvSpPr>
            <p:cNvPr id="7" name="五边形 6"/>
            <p:cNvSpPr/>
            <p:nvPr userDrawn="1"/>
          </p:nvSpPr>
          <p:spPr>
            <a:xfrm rot="10800000">
              <a:off x="7238999" y="2869688"/>
              <a:ext cx="4953001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  <p:sp>
          <p:nvSpPr>
            <p:cNvPr id="8" name="五边形 7"/>
            <p:cNvSpPr/>
            <p:nvPr userDrawn="1"/>
          </p:nvSpPr>
          <p:spPr>
            <a:xfrm>
              <a:off x="-1" y="1656366"/>
              <a:ext cx="4953000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</p:grpSp>
      <p:sp>
        <p:nvSpPr>
          <p:cNvPr id="9" name="五边形 8"/>
          <p:cNvSpPr/>
          <p:nvPr userDrawn="1"/>
        </p:nvSpPr>
        <p:spPr>
          <a:xfrm>
            <a:off x="0" y="2088516"/>
            <a:ext cx="12192000" cy="144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" y="2282261"/>
            <a:ext cx="12191999" cy="1052513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9" name="五边形 18"/>
          <p:cNvSpPr/>
          <p:nvPr userDrawn="1"/>
        </p:nvSpPr>
        <p:spPr>
          <a:xfrm rot="10800000">
            <a:off x="1" y="6138001"/>
            <a:ext cx="12191999" cy="720000"/>
          </a:xfrm>
          <a:prstGeom prst="homePlat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pic>
        <p:nvPicPr>
          <p:cNvPr id="21" name="图片 20" descr="2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5999" y="6264234"/>
            <a:ext cx="1440000" cy="4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0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五边形 6"/>
          <p:cNvSpPr/>
          <p:nvPr userDrawn="1"/>
        </p:nvSpPr>
        <p:spPr>
          <a:xfrm flipH="1">
            <a:off x="1" y="3429000"/>
            <a:ext cx="12192000" cy="18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" y="2103444"/>
            <a:ext cx="12192000" cy="1325563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067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76622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46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9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2"/>
            <a:ext cx="12192000" cy="908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63" dirty="0"/>
          </a:p>
        </p:txBody>
      </p:sp>
      <p:sp>
        <p:nvSpPr>
          <p:cNvPr id="8" name="五边形 7"/>
          <p:cNvSpPr/>
          <p:nvPr userDrawn="1"/>
        </p:nvSpPr>
        <p:spPr>
          <a:xfrm>
            <a:off x="5" y="2"/>
            <a:ext cx="334961" cy="90805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327" y="2"/>
            <a:ext cx="10801349" cy="90805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9" name="图片 8" descr="2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7039" y="220260"/>
            <a:ext cx="1440000" cy="4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57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pos="439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pos="7243" userDrawn="1">
          <p15:clr>
            <a:srgbClr val="FBAE40"/>
          </p15:clr>
        </p15:guide>
        <p15:guide id="8" orient="horz" pos="420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34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-1" y="2042198"/>
            <a:ext cx="12192001" cy="2653322"/>
            <a:chOff x="-1" y="1656366"/>
            <a:chExt cx="12192001" cy="2653322"/>
          </a:xfrm>
        </p:grpSpPr>
        <p:sp>
          <p:nvSpPr>
            <p:cNvPr id="6" name="五边形 5"/>
            <p:cNvSpPr/>
            <p:nvPr userDrawn="1"/>
          </p:nvSpPr>
          <p:spPr>
            <a:xfrm rot="10800000">
              <a:off x="7238999" y="2869688"/>
              <a:ext cx="4953001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  <p:sp>
          <p:nvSpPr>
            <p:cNvPr id="7" name="五边形 6"/>
            <p:cNvSpPr/>
            <p:nvPr userDrawn="1"/>
          </p:nvSpPr>
          <p:spPr>
            <a:xfrm>
              <a:off x="-1" y="1656366"/>
              <a:ext cx="4953000" cy="1440000"/>
            </a:xfrm>
            <a:prstGeom prst="homePlate">
              <a:avLst/>
            </a:prstGeom>
            <a:solidFill>
              <a:srgbClr val="FF46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463"/>
            </a:p>
          </p:txBody>
        </p:sp>
      </p:grpSp>
      <p:sp>
        <p:nvSpPr>
          <p:cNvPr id="8" name="五边形 7"/>
          <p:cNvSpPr/>
          <p:nvPr userDrawn="1"/>
        </p:nvSpPr>
        <p:spPr>
          <a:xfrm>
            <a:off x="-1" y="2648859"/>
            <a:ext cx="12192000" cy="1440000"/>
          </a:xfrm>
          <a:prstGeom prst="homePlate">
            <a:avLst>
              <a:gd name="adj" fmla="val 0"/>
            </a:avLst>
          </a:prstGeom>
          <a:solidFill>
            <a:srgbClr val="FF4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463"/>
          </a:p>
        </p:txBody>
      </p:sp>
      <p:pic>
        <p:nvPicPr>
          <p:cNvPr id="3" name="Picture 8" descr="放射光~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1895" y="814390"/>
            <a:ext cx="7428211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855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xit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2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F0EFADA1-8829-4172-B732-9238B180FA9B}" type="datetimeFigureOut">
              <a:rPr lang="zh-CN" altLang="en-US" smtClean="0"/>
              <a:pPr/>
              <a:t>2016/5/13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4AFFB5ED-A705-4C27-9A0B-201E405ED77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80599" y="232548"/>
            <a:ext cx="252061" cy="6480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1696764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8" r:id="rId3"/>
    <p:sldLayoutId id="2147483650" r:id="rId4"/>
    <p:sldLayoutId id="2147483655" r:id="rId5"/>
    <p:sldLayoutId id="2147483656" r:id="rId6"/>
    <p:sldLayoutId id="2147483669" r:id="rId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速宾电子支付管理平台</a:t>
            </a:r>
            <a:r>
              <a:rPr lang="en-US" altLang="zh-CN" dirty="0" smtClean="0"/>
              <a:t>》</a:t>
            </a:r>
            <a:r>
              <a:rPr lang="zh-CN" altLang="en-US" dirty="0" smtClean="0"/>
              <a:t>操作流程</a:t>
            </a:r>
            <a:endParaRPr lang="zh-CN" altLang="en-US" dirty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1" y="3468510"/>
            <a:ext cx="12191999" cy="1052513"/>
          </a:xfrm>
          <a:prstGeom prst="rect">
            <a:avLst/>
          </a:prstGeom>
        </p:spPr>
        <p:txBody>
          <a:bodyPr anchor="ctr"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 </a:t>
            </a:r>
            <a:r>
              <a:rPr lang="zh-CN" altLang="en-US" sz="32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超级管理员</a:t>
            </a:r>
            <a:endParaRPr lang="zh-CN" altLang="en-US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43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40" y="1630831"/>
            <a:ext cx="5037049" cy="25593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如何登录后台</a:t>
            </a:r>
            <a:endParaRPr lang="zh-CN" altLang="en-US" dirty="0"/>
          </a:p>
        </p:txBody>
      </p:sp>
      <p:sp>
        <p:nvSpPr>
          <p:cNvPr id="5" name="TextBox 17"/>
          <p:cNvSpPr txBox="1"/>
          <p:nvPr/>
        </p:nvSpPr>
        <p:spPr>
          <a:xfrm>
            <a:off x="345140" y="4451282"/>
            <a:ext cx="467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打开浏览器，输入：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ad.subinwechat.com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账号和密码，登录管理后台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8871" y="1616566"/>
            <a:ext cx="5962959" cy="262592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8" name="虚尾箭头 7"/>
          <p:cNvSpPr/>
          <p:nvPr/>
        </p:nvSpPr>
        <p:spPr>
          <a:xfrm>
            <a:off x="4437529" y="2375296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"/>
          <p:cNvSpPr txBox="1"/>
          <p:nvPr/>
        </p:nvSpPr>
        <p:spPr>
          <a:xfrm>
            <a:off x="5848868" y="4513801"/>
            <a:ext cx="312546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后台管理主页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首页内容可以点击查看详情。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54750" y="144079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5642925" y="144079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TextBox 17"/>
          <p:cNvSpPr txBox="1"/>
          <p:nvPr/>
        </p:nvSpPr>
        <p:spPr>
          <a:xfrm>
            <a:off x="267461" y="5834123"/>
            <a:ext cx="1165708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：建议使用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Chrome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Firefox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，傲游、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Safari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等第三方浏览器，并且升级到较新的版本，以达到最佳使用效果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41944" y="6488668"/>
            <a:ext cx="3950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dirty="0"/>
              <a:t>本教程基于</a:t>
            </a:r>
            <a:r>
              <a:rPr lang="en-US" altLang="zh-CN" dirty="0"/>
              <a:t>Chrome</a:t>
            </a:r>
            <a:r>
              <a:rPr lang="zh-CN" altLang="en-US" dirty="0"/>
              <a:t> </a:t>
            </a:r>
            <a:r>
              <a:rPr lang="en-US" altLang="zh-CN" dirty="0"/>
              <a:t>50.0.2661.75 m</a:t>
            </a:r>
          </a:p>
        </p:txBody>
      </p:sp>
    </p:spTree>
    <p:extLst>
      <p:ext uri="{BB962C8B-B14F-4D97-AF65-F5344CB8AC3E}">
        <p14:creationId xmlns:p14="http://schemas.microsoft.com/office/powerpoint/2010/main" val="275359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修改登录密码和登出</a:t>
            </a:r>
            <a:endParaRPr lang="zh-CN" altLang="en-US" dirty="0"/>
          </a:p>
        </p:txBody>
      </p:sp>
      <p:sp>
        <p:nvSpPr>
          <p:cNvPr id="5" name="TextBox 17"/>
          <p:cNvSpPr txBox="1"/>
          <p:nvPr/>
        </p:nvSpPr>
        <p:spPr>
          <a:xfrm>
            <a:off x="6090937" y="4264695"/>
            <a:ext cx="46204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点击修改密码，进入修改密码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页面进行设置。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46" y="1614097"/>
            <a:ext cx="2838846" cy="266737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264" y="1614096"/>
            <a:ext cx="3205759" cy="242405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8" name="虚尾箭头 7"/>
          <p:cNvSpPr/>
          <p:nvPr/>
        </p:nvSpPr>
        <p:spPr>
          <a:xfrm>
            <a:off x="5311408" y="253184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170505" y="138755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571723" y="138755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509318" y="2913468"/>
            <a:ext cx="955589" cy="332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虚尾箭头 10"/>
          <p:cNvSpPr/>
          <p:nvPr/>
        </p:nvSpPr>
        <p:spPr>
          <a:xfrm rot="5400000">
            <a:off x="3305831" y="3531928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7"/>
          <p:cNvSpPr txBox="1"/>
          <p:nvPr/>
        </p:nvSpPr>
        <p:spPr>
          <a:xfrm>
            <a:off x="1589494" y="5022023"/>
            <a:ext cx="4844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点击登出账号，退出当前账号，回到登录界面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30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45" y="5314565"/>
            <a:ext cx="4359586" cy="11926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5" y="1114582"/>
            <a:ext cx="11526384" cy="322521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首页操作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101204" y="901523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101203" y="515148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TextBox 17"/>
          <p:cNvSpPr txBox="1"/>
          <p:nvPr/>
        </p:nvSpPr>
        <p:spPr>
          <a:xfrm>
            <a:off x="554284" y="4339599"/>
            <a:ext cx="115263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首页是六大显示窗口，每次刷新会有更新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点击红框内首页六大快捷操作按钮，可以分别自动筛选出各自所描述的数据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51709" y="2982097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566941" y="3946509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255535" y="3946509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951709" y="3946509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566941" y="2980556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255535" y="2982097"/>
            <a:ext cx="3227626" cy="344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177" y="5314565"/>
            <a:ext cx="3980952" cy="126666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2" name="TextBox 17"/>
          <p:cNvSpPr txBox="1"/>
          <p:nvPr/>
        </p:nvSpPr>
        <p:spPr>
          <a:xfrm>
            <a:off x="4744994" y="5160954"/>
            <a:ext cx="3070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：可以直接导出日报、周报、月报，但不能使用翻页功能，需要查询请到收费明细页面筛选查询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23478" y="5956315"/>
            <a:ext cx="976954" cy="485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乘号 24"/>
          <p:cNvSpPr/>
          <p:nvPr/>
        </p:nvSpPr>
        <p:spPr>
          <a:xfrm>
            <a:off x="6594581" y="5960722"/>
            <a:ext cx="6318421" cy="766119"/>
          </a:xfrm>
          <a:prstGeom prst="mathMultiply">
            <a:avLst/>
          </a:prstGeom>
          <a:solidFill>
            <a:srgbClr val="FF4600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532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如何创建物业公司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54" y="1206204"/>
            <a:ext cx="4558696" cy="27481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5530" y="1197774"/>
            <a:ext cx="3904973" cy="391616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7" name="椭圆 6"/>
          <p:cNvSpPr/>
          <p:nvPr/>
        </p:nvSpPr>
        <p:spPr>
          <a:xfrm>
            <a:off x="319506" y="971234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530534" y="971234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66693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7"/>
          <p:cNvSpPr txBox="1"/>
          <p:nvPr/>
        </p:nvSpPr>
        <p:spPr>
          <a:xfrm>
            <a:off x="546045" y="4144440"/>
            <a:ext cx="59844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）点击物业公司管理栏，点击创建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按钮，进入创建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页面。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填写物业公司信息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，点击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保存按钮进行保存。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填写内容中“*”为必填内容。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“公司名称”，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1-30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个字符长度。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其他信息，如有请尽可能详细填写。</a:t>
            </a:r>
          </a:p>
        </p:txBody>
      </p:sp>
    </p:spTree>
    <p:extLst>
      <p:ext uri="{BB962C8B-B14F-4D97-AF65-F5344CB8AC3E}">
        <p14:creationId xmlns:p14="http://schemas.microsoft.com/office/powerpoint/2010/main" val="166320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如何搜索物业公司</a:t>
            </a:r>
            <a:endParaRPr lang="zh-CN" altLang="en-US" dirty="0"/>
          </a:p>
        </p:txBody>
      </p:sp>
      <p:sp>
        <p:nvSpPr>
          <p:cNvPr id="6" name="TextBox 17"/>
          <p:cNvSpPr txBox="1"/>
          <p:nvPr/>
        </p:nvSpPr>
        <p:spPr>
          <a:xfrm>
            <a:off x="673912" y="4770164"/>
            <a:ext cx="5122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）在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输入框中，输入搜索的内容关键词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，敲击回车，列表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会根据搜索内容显示搜索结果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437" y="1152398"/>
            <a:ext cx="5144218" cy="221963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3" y="1152398"/>
            <a:ext cx="5422085" cy="33734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</p:pic>
      <p:sp>
        <p:nvSpPr>
          <p:cNvPr id="7" name="椭圆 6"/>
          <p:cNvSpPr/>
          <p:nvPr/>
        </p:nvSpPr>
        <p:spPr>
          <a:xfrm>
            <a:off x="447372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483896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0" name="TextBox 17"/>
          <p:cNvSpPr txBox="1"/>
          <p:nvPr/>
        </p:nvSpPr>
        <p:spPr>
          <a:xfrm>
            <a:off x="6710436" y="4772132"/>
            <a:ext cx="5122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）点击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搜索框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中删除按钮，可以清除搜索内容，列表显示完整物业公司数据。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虚尾箭头 10"/>
          <p:cNvSpPr/>
          <p:nvPr/>
        </p:nvSpPr>
        <p:spPr>
          <a:xfrm>
            <a:off x="5308052" y="2533134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18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0436" y="1203244"/>
            <a:ext cx="3972121" cy="3938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" y="1203244"/>
            <a:ext cx="5058371" cy="32250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如何编辑物业公司</a:t>
            </a:r>
            <a:endParaRPr lang="zh-CN" altLang="en-US" dirty="0"/>
          </a:p>
        </p:txBody>
      </p:sp>
      <p:sp>
        <p:nvSpPr>
          <p:cNvPr id="6" name="TextBox 17"/>
          <p:cNvSpPr txBox="1"/>
          <p:nvPr/>
        </p:nvSpPr>
        <p:spPr>
          <a:xfrm>
            <a:off x="673912" y="4770164"/>
            <a:ext cx="5122709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）点击 “编辑”按钮，进入编辑信息页面。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47372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483896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1" name="虚尾箭头 10"/>
          <p:cNvSpPr/>
          <p:nvPr/>
        </p:nvSpPr>
        <p:spPr>
          <a:xfrm>
            <a:off x="5266693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36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032" y="1171850"/>
            <a:ext cx="4266667" cy="1371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4" y="1134592"/>
            <a:ext cx="4367573" cy="28173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如何删除物业公司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447372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483896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1" name="虚尾箭头 10"/>
          <p:cNvSpPr/>
          <p:nvPr/>
        </p:nvSpPr>
        <p:spPr>
          <a:xfrm>
            <a:off x="5266693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7"/>
          <p:cNvSpPr txBox="1"/>
          <p:nvPr/>
        </p:nvSpPr>
        <p:spPr>
          <a:xfrm>
            <a:off x="586802" y="4308599"/>
            <a:ext cx="6350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删除有两种方式：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先勾选需要删除的物业公司，然后点击“选中的”中“删除”按钮进行删除。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）直接点击列表中的“删除”按钮。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）删除操作会显示提示框二次确认，删除后，该物业公司数据删除，该物业公司分配的管理员账号不能使用。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015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9915" y="1134039"/>
            <a:ext cx="3700057" cy="3976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如何创建停车场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67" y="1134591"/>
            <a:ext cx="4401994" cy="333855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6" name="椭圆 5"/>
          <p:cNvSpPr/>
          <p:nvPr/>
        </p:nvSpPr>
        <p:spPr>
          <a:xfrm>
            <a:off x="695326" y="907499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483896" y="9080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7"/>
          <p:cNvSpPr txBox="1"/>
          <p:nvPr/>
        </p:nvSpPr>
        <p:spPr>
          <a:xfrm>
            <a:off x="921865" y="4606249"/>
            <a:ext cx="51576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）点击停车场管理栏，点击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创建按钮，进入创建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页面（填写停车场信息）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）根据信息内容填写停车场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信息，保存提交。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填写内容中“*”为必填内容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）停车场编号，请根据正确地址填写部署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）服务器地址，输入正确的停车场服务器部署的地址。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099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24" y="1111373"/>
            <a:ext cx="4803665" cy="34538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281" y="1111373"/>
            <a:ext cx="4883064" cy="250769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搜索</a:t>
            </a:r>
            <a:r>
              <a:rPr lang="zh-CN" altLang="en-US" dirty="0" smtClean="0"/>
              <a:t>停车场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7"/>
          <p:cNvSpPr txBox="1"/>
          <p:nvPr/>
        </p:nvSpPr>
        <p:spPr>
          <a:xfrm>
            <a:off x="794280" y="4768569"/>
            <a:ext cx="635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输入关键字，回车，进行搜索，列表显示搜索结果。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）搜索范围：停车场名称、停车场编号 字段。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）点击搜索框后的删除按钮，可以删除搜索结果。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770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54" y="1183694"/>
            <a:ext cx="4558798" cy="366054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555" y="1182598"/>
            <a:ext cx="4700627" cy="38091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查看</a:t>
            </a:r>
            <a:r>
              <a:rPr lang="zh-CN" altLang="en-US" dirty="0" smtClean="0"/>
              <a:t>停车场信息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7"/>
          <p:cNvSpPr txBox="1"/>
          <p:nvPr/>
        </p:nvSpPr>
        <p:spPr>
          <a:xfrm>
            <a:off x="899023" y="5021540"/>
            <a:ext cx="635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点击 “查看”按钮，显示停车场信息窗口。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332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13" y="1175447"/>
            <a:ext cx="4663931" cy="364856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330" y="1177808"/>
            <a:ext cx="5289667" cy="364620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编辑</a:t>
            </a:r>
            <a:r>
              <a:rPr lang="zh-CN" altLang="en-US" dirty="0" smtClean="0"/>
              <a:t>停车场信息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7"/>
          <p:cNvSpPr txBox="1"/>
          <p:nvPr/>
        </p:nvSpPr>
        <p:spPr>
          <a:xfrm>
            <a:off x="807645" y="4944193"/>
            <a:ext cx="635017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点击 “编辑”按钮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，进入编辑信息页面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275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410" y="1164303"/>
            <a:ext cx="4266667" cy="1371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23" y="1148492"/>
            <a:ext cx="4819878" cy="26212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如何删除停车场信息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虚尾箭头 8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7"/>
          <p:cNvSpPr txBox="1"/>
          <p:nvPr/>
        </p:nvSpPr>
        <p:spPr>
          <a:xfrm>
            <a:off x="899023" y="3996254"/>
            <a:ext cx="6350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删除有两种方式：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先勾选需要删除的停车场，然后点击“选中的”中“删除”按钮进行删除。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）直接点击列表中的“删除”按钮。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）删除操作会显示提示框二次确认，删除后，该停车场数据删除，该停车场分配的管理员账号不能使用。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35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如何搜索用户信息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560" y="1151394"/>
            <a:ext cx="4952116" cy="26273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25" y="1151394"/>
            <a:ext cx="4745471" cy="254617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虚尾箭头 9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7"/>
          <p:cNvSpPr txBox="1"/>
          <p:nvPr/>
        </p:nvSpPr>
        <p:spPr>
          <a:xfrm>
            <a:off x="899023" y="4188016"/>
            <a:ext cx="635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输入关键字，回车，进行搜索，列表显示搜索结果。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）搜索范围：微信账号，支付宝账号、移动电话、车牌号 字段。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）点击搜索框后的删除按钮，可以删除搜索结果。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895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23" y="1148492"/>
            <a:ext cx="4896552" cy="245558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622" y="1148492"/>
            <a:ext cx="5042717" cy="331796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如何查看用户信息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虚尾箭头 9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7"/>
          <p:cNvSpPr txBox="1"/>
          <p:nvPr/>
        </p:nvSpPr>
        <p:spPr>
          <a:xfrm>
            <a:off x="899023" y="4706894"/>
            <a:ext cx="635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点击 “查看”按钮，显示用户信息窗口。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04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410" y="1164303"/>
            <a:ext cx="4266667" cy="13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60" y="1234257"/>
            <a:ext cx="4560650" cy="258809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如何删除用户信息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虚尾箭头 9"/>
          <p:cNvSpPr/>
          <p:nvPr/>
        </p:nvSpPr>
        <p:spPr>
          <a:xfrm>
            <a:off x="5207164" y="2160829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7"/>
          <p:cNvSpPr txBox="1"/>
          <p:nvPr/>
        </p:nvSpPr>
        <p:spPr>
          <a:xfrm>
            <a:off x="899023" y="3996254"/>
            <a:ext cx="6350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删除有两种方式：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先勾选需要删除的停车场，然后点击“选中的”中“删除”按钮进行删除。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）直接点击列表中的“删除”按钮。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）删除操作会显示提示框二次确认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942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25" y="1178079"/>
            <a:ext cx="4696426" cy="222601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918" y="1148492"/>
            <a:ext cx="5079538" cy="326305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如何筛选收费明细</a:t>
            </a:r>
            <a:endParaRPr lang="zh-CN" altLang="en-US" dirty="0"/>
          </a:p>
        </p:txBody>
      </p:sp>
      <p:sp>
        <p:nvSpPr>
          <p:cNvPr id="6" name="TextBox 17"/>
          <p:cNvSpPr txBox="1"/>
          <p:nvPr/>
        </p:nvSpPr>
        <p:spPr>
          <a:xfrm>
            <a:off x="822925" y="4437292"/>
            <a:ext cx="10387913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点击进入“新增筛选器”，可选择需要筛选的条件。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如：选择物业公司，则输入物业公司名字，列表会显示相关物业公司的收费明细。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如：停车场名字，则输入停车场名字，列表显示相关停车场收费明细。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如：付费时间，选择需要查看的具体日期，列表会显示该日期时间段的收费明细。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如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：支付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类型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（微信支付）或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（支付宝），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列表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显示对应的收费明细。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虚尾箭头 4"/>
          <p:cNvSpPr/>
          <p:nvPr/>
        </p:nvSpPr>
        <p:spPr>
          <a:xfrm>
            <a:off x="5065941" y="2196400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609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7" y="1224753"/>
            <a:ext cx="5124678" cy="25202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677" y="1224753"/>
            <a:ext cx="5236999" cy="29554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如何搜索收费明细</a:t>
            </a:r>
            <a:endParaRPr lang="zh-CN" altLang="en-US" dirty="0"/>
          </a:p>
        </p:txBody>
      </p:sp>
      <p:sp>
        <p:nvSpPr>
          <p:cNvPr id="7" name="虚尾箭头 6"/>
          <p:cNvSpPr/>
          <p:nvPr/>
        </p:nvSpPr>
        <p:spPr>
          <a:xfrm>
            <a:off x="5065941" y="2196400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TextBox 17"/>
          <p:cNvSpPr txBox="1"/>
          <p:nvPr/>
        </p:nvSpPr>
        <p:spPr>
          <a:xfrm>
            <a:off x="672483" y="4401420"/>
            <a:ext cx="6350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）输入关键字，回车，进行搜索，列表显示搜索结果。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）搜索范围：订单号、票号、微信号、支付宝号等等字段。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）点击搜索框后的删除按钮，可以删除搜索结果。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370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30" y="1148493"/>
            <a:ext cx="4842906" cy="29671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11" y="1087395"/>
            <a:ext cx="3079630" cy="5334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查看</a:t>
            </a:r>
            <a:r>
              <a:rPr lang="zh-CN" altLang="en-US" dirty="0" smtClean="0"/>
              <a:t>收费明细</a:t>
            </a:r>
            <a:endParaRPr lang="zh-CN" altLang="en-US" dirty="0"/>
          </a:p>
        </p:txBody>
      </p:sp>
      <p:sp>
        <p:nvSpPr>
          <p:cNvPr id="7" name="虚尾箭头 6"/>
          <p:cNvSpPr/>
          <p:nvPr/>
        </p:nvSpPr>
        <p:spPr>
          <a:xfrm>
            <a:off x="5065941" y="2196400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TextBox 17"/>
          <p:cNvSpPr txBox="1"/>
          <p:nvPr/>
        </p:nvSpPr>
        <p:spPr>
          <a:xfrm>
            <a:off x="899023" y="4706894"/>
            <a:ext cx="6350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点击 “查看”按钮，显示收费明细窗口。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054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23" y="1166689"/>
            <a:ext cx="5063267" cy="28990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868" y="1271125"/>
            <a:ext cx="4622402" cy="153634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如何编辑发票状态</a:t>
            </a:r>
            <a:endParaRPr lang="zh-CN" altLang="en-US" dirty="0"/>
          </a:p>
        </p:txBody>
      </p:sp>
      <p:sp>
        <p:nvSpPr>
          <p:cNvPr id="7" name="虚尾箭头 6"/>
          <p:cNvSpPr/>
          <p:nvPr/>
        </p:nvSpPr>
        <p:spPr>
          <a:xfrm>
            <a:off x="5065941" y="2196400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TextBox 8"/>
          <p:cNvSpPr txBox="1"/>
          <p:nvPr/>
        </p:nvSpPr>
        <p:spPr>
          <a:xfrm>
            <a:off x="899023" y="4379246"/>
            <a:ext cx="42965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点击编辑按钮，记录发票发放状态。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06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410" y="1164303"/>
            <a:ext cx="4266667" cy="1371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30" y="1148492"/>
            <a:ext cx="5047472" cy="29923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如何删除收费明细</a:t>
            </a:r>
            <a:endParaRPr lang="zh-CN" altLang="en-US" dirty="0"/>
          </a:p>
        </p:txBody>
      </p:sp>
      <p:sp>
        <p:nvSpPr>
          <p:cNvPr id="7" name="虚尾箭头 6"/>
          <p:cNvSpPr/>
          <p:nvPr/>
        </p:nvSpPr>
        <p:spPr>
          <a:xfrm>
            <a:off x="5065941" y="2196400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72483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250740" y="92195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TextBox 17"/>
          <p:cNvSpPr txBox="1"/>
          <p:nvPr/>
        </p:nvSpPr>
        <p:spPr>
          <a:xfrm>
            <a:off x="837330" y="4381312"/>
            <a:ext cx="6350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删除有两种方式：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先勾选需要删除的收费明细，然后点击“选中的”中“删除”按钮进行删除。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）直接点击列表中的“删除”按钮。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）删除操作会显示提示框二次确认，删除后，该收费明细数据删除，（一般不建议删除明细数据）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351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416" y="1015879"/>
            <a:ext cx="7305272" cy="396801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如何导出收费明细</a:t>
            </a:r>
            <a:endParaRPr lang="zh-CN" altLang="en-US" dirty="0"/>
          </a:p>
        </p:txBody>
      </p:sp>
      <p:sp>
        <p:nvSpPr>
          <p:cNvPr id="5" name="TextBox 17"/>
          <p:cNvSpPr txBox="1"/>
          <p:nvPr/>
        </p:nvSpPr>
        <p:spPr>
          <a:xfrm>
            <a:off x="331636" y="5128018"/>
            <a:ext cx="5024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 “导出账单”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显示下载提示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框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）找到下载目录，打开导出的文件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）保存后的表格可以根据需要进行编辑。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2436" y="4240669"/>
            <a:ext cx="6730975" cy="245878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7" name="右箭头 6"/>
          <p:cNvSpPr/>
          <p:nvPr/>
        </p:nvSpPr>
        <p:spPr>
          <a:xfrm rot="2006172">
            <a:off x="4230174" y="3460424"/>
            <a:ext cx="1200895" cy="1110026"/>
          </a:xfrm>
          <a:prstGeom prst="rightArrow">
            <a:avLst>
              <a:gd name="adj1" fmla="val 28765"/>
              <a:gd name="adj2" fmla="val 39506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1314" y="908051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5410971" y="404811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08669" y="1760170"/>
            <a:ext cx="403655" cy="2828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1636" y="4718211"/>
            <a:ext cx="955589" cy="332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7"/>
          <p:cNvSpPr txBox="1"/>
          <p:nvPr/>
        </p:nvSpPr>
        <p:spPr>
          <a:xfrm>
            <a:off x="7933397" y="1015879"/>
            <a:ext cx="3857304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：不同浏览器操作不尽相同，请根据选用的浏览器进行实际操作</a:t>
            </a:r>
            <a:endParaRPr lang="en-US" altLang="zh-CN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045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如何管理卡券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36385" y="1423565"/>
            <a:ext cx="3125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进入后台，点击卡券管理，进入卡券管理界面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58083" y="159178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64141" y="5627357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1689" y="1274909"/>
            <a:ext cx="2371725" cy="130492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9" name="TextBox 8"/>
          <p:cNvSpPr txBox="1"/>
          <p:nvPr/>
        </p:nvSpPr>
        <p:spPr>
          <a:xfrm>
            <a:off x="1588117" y="5443290"/>
            <a:ext cx="7732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卡券管理页面可以创建卡券和管理编辑，也可以通过已激活、未激活、已过期来控制卡券活动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3" y="2875208"/>
            <a:ext cx="11337187" cy="233514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83218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如何创建卡券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32377" y="2765804"/>
            <a:ext cx="3125466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进入卡券管理，点击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58083" y="159178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033095" y="1575474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1" name="虚尾箭头 10"/>
          <p:cNvSpPr/>
          <p:nvPr/>
        </p:nvSpPr>
        <p:spPr>
          <a:xfrm>
            <a:off x="4408751" y="2590987"/>
            <a:ext cx="1411339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2043" y="1458855"/>
            <a:ext cx="3857625" cy="75247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773" y="1046206"/>
            <a:ext cx="4537778" cy="572608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8956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卡券各项功能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71721" y="1016520"/>
            <a:ext cx="582495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填写相应卡券信息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必填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卡券名称：</a:t>
            </a:r>
            <a:r>
              <a:rPr lang="zh-CN" altLang="en-US" dirty="0" smtClean="0"/>
              <a:t>填写卡券名称，建议简洁明了，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个汉字以内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领取编码：自动生成不重复的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位编码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价值：</a:t>
            </a:r>
            <a:r>
              <a:rPr lang="zh-CN" altLang="en-US" dirty="0" smtClean="0"/>
              <a:t>卡券面值，精确到角和分（一般不建议使用角分）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活动开始时间：</a:t>
            </a:r>
            <a:r>
              <a:rPr lang="zh-CN" altLang="en-US" dirty="0" smtClean="0"/>
              <a:t>获取卡券的开始时间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获取结束时间：</a:t>
            </a:r>
            <a:r>
              <a:rPr lang="zh-CN" altLang="en-US" dirty="0" smtClean="0"/>
              <a:t>获取卡券的结束时间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起始有效时间：</a:t>
            </a:r>
            <a:r>
              <a:rPr lang="zh-CN" altLang="en-US" dirty="0" smtClean="0"/>
              <a:t>卡券可以开始使用的时间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有效时间截止至：卡券可以用的最晚时间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获取数量：每个用户可领取该种卡券的数量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卡券类型：</a:t>
            </a:r>
            <a:r>
              <a:rPr lang="zh-CN" altLang="en-US" dirty="0" smtClean="0"/>
              <a:t>暂时无意义，为后期开发保留接口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总量：</a:t>
            </a:r>
            <a:r>
              <a:rPr lang="zh-CN" altLang="en-US" dirty="0" smtClean="0"/>
              <a:t>卡券总的发行数量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指定停车场：指定哪些停车场可使用该卡券，按住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shift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Ctrl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键复选停车场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卡券状态：调整卡券状态，控制活动时间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89" y="1016520"/>
            <a:ext cx="4537778" cy="572608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15384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</a:t>
            </a:r>
            <a:r>
              <a:rPr lang="zh-CN" altLang="en-US" dirty="0" smtClean="0"/>
              <a:t>查看卡券信息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9949" y="1297662"/>
            <a:ext cx="1333500" cy="2486025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4" name="椭圆 3"/>
          <p:cNvSpPr/>
          <p:nvPr/>
        </p:nvSpPr>
        <p:spPr>
          <a:xfrm>
            <a:off x="803945" y="138296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5342401" y="139007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" name="虚尾箭头 5"/>
          <p:cNvSpPr/>
          <p:nvPr/>
        </p:nvSpPr>
        <p:spPr>
          <a:xfrm>
            <a:off x="3913109" y="2259435"/>
            <a:ext cx="1411339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4232" y="1184193"/>
            <a:ext cx="5064226" cy="51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876904" y="4360619"/>
            <a:ext cx="3125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点击眼睛形状图标，进入查看卡券的详情界面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52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158" y="3027214"/>
            <a:ext cx="2504762" cy="14380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如何编辑和删除卡券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42335" y="1428484"/>
            <a:ext cx="933450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椭圆 5"/>
          <p:cNvSpPr/>
          <p:nvPr/>
        </p:nvSpPr>
        <p:spPr>
          <a:xfrm>
            <a:off x="154743" y="1440784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3449286" y="145802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8" name="虚尾箭头 7"/>
          <p:cNvSpPr/>
          <p:nvPr/>
        </p:nvSpPr>
        <p:spPr>
          <a:xfrm>
            <a:off x="2336671" y="2725211"/>
            <a:ext cx="1411339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876651" y="1509760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99474" y="4853647"/>
            <a:ext cx="3125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点击铅笔形状图标，进入修改卡券界面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68241" y="4853647"/>
            <a:ext cx="3891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卡券可修改活动结束日期和时间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券的有效期限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可调整获取数量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可激活或关闭卡券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02833" y="4853647"/>
            <a:ext cx="3509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查看卡券状态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未激活：未开启状态（默认）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已激活：开启状态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已过期：卡券活动过期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11005" y="2245934"/>
            <a:ext cx="10763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06640" y="1459684"/>
            <a:ext cx="4417620" cy="331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虚尾箭头 12"/>
          <p:cNvSpPr/>
          <p:nvPr/>
        </p:nvSpPr>
        <p:spPr>
          <a:xfrm>
            <a:off x="8494899" y="3564110"/>
            <a:ext cx="1875506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9"/>
          <p:cNvSpPr txBox="1"/>
          <p:nvPr/>
        </p:nvSpPr>
        <p:spPr>
          <a:xfrm>
            <a:off x="499475" y="5623120"/>
            <a:ext cx="294981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：卡券正式发出后建议不要更改和删除，尤其是已经有客户已经领取后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738325" y="3419948"/>
            <a:ext cx="265204" cy="2652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0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65" y="4055723"/>
            <a:ext cx="8826927" cy="18181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407" y="1172904"/>
            <a:ext cx="8823685" cy="18174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如何导出卡券编号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132600" y="94636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132600" y="3826581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8" name="虚尾箭头 7"/>
          <p:cNvSpPr/>
          <p:nvPr/>
        </p:nvSpPr>
        <p:spPr>
          <a:xfrm rot="5400000">
            <a:off x="5672996" y="2928002"/>
            <a:ext cx="1411339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06544" y="3017583"/>
            <a:ext cx="85715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必须搜索出需要导出的卡券编码或者名称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52609" y="1742949"/>
            <a:ext cx="1373280" cy="31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392305" y="4614642"/>
            <a:ext cx="713360" cy="2868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9"/>
          <p:cNvSpPr txBox="1"/>
          <p:nvPr/>
        </p:nvSpPr>
        <p:spPr>
          <a:xfrm>
            <a:off x="506544" y="6150216"/>
            <a:ext cx="8571553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点击生成卡券编号，会自动导出此卡券的编号表（不同浏览器会有不同操作方式）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614" y="1186649"/>
            <a:ext cx="2152381" cy="129523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6" name="TextBox 9"/>
          <p:cNvSpPr txBox="1"/>
          <p:nvPr/>
        </p:nvSpPr>
        <p:spPr>
          <a:xfrm>
            <a:off x="9624370" y="2533919"/>
            <a:ext cx="2350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Tips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：导出的卡券编号由于首位不能是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，因此需要添加‘ 号进行区别，建议在实际使用中使用查找替换进行编辑后再使用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4838" y="5066366"/>
            <a:ext cx="2767913" cy="14137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11776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165" y="4055723"/>
            <a:ext cx="8826927" cy="18181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407" y="1172904"/>
            <a:ext cx="8823685" cy="18174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如何导出卡券二维码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132600" y="946362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132600" y="3826581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8" name="虚尾箭头 7"/>
          <p:cNvSpPr/>
          <p:nvPr/>
        </p:nvSpPr>
        <p:spPr>
          <a:xfrm rot="5400000">
            <a:off x="4506100" y="2770229"/>
            <a:ext cx="1411339" cy="838899"/>
          </a:xfrm>
          <a:prstGeom prst="strip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06544" y="3017583"/>
            <a:ext cx="85715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必须搜索出需要导出的卡券编码或者名称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52609" y="1742949"/>
            <a:ext cx="1373280" cy="31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60066" y="4414161"/>
            <a:ext cx="713360" cy="46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9"/>
          <p:cNvSpPr txBox="1"/>
          <p:nvPr/>
        </p:nvSpPr>
        <p:spPr>
          <a:xfrm>
            <a:off x="359140" y="5972428"/>
            <a:ext cx="8571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点击生成卡券二维码，自动生成指定数量的卡券二维码，进行打印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点击生成普惠卡券二维码，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自动生成一个卡券二维码，进行打印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14616" y="4590801"/>
            <a:ext cx="817295" cy="2868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93" y="4734236"/>
            <a:ext cx="2342857" cy="204761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993" y="1020503"/>
            <a:ext cx="1485687" cy="339497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cxnSp>
        <p:nvCxnSpPr>
          <p:cNvPr id="12" name="肘形连接符 11"/>
          <p:cNvCxnSpPr/>
          <p:nvPr/>
        </p:nvCxnSpPr>
        <p:spPr>
          <a:xfrm flipV="1">
            <a:off x="1573426" y="3355031"/>
            <a:ext cx="8113567" cy="1066709"/>
          </a:xfrm>
          <a:prstGeom prst="bentConnector3">
            <a:avLst>
              <a:gd name="adj1" fmla="val 6015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endCxn id="5" idx="1"/>
          </p:cNvCxnSpPr>
          <p:nvPr/>
        </p:nvCxnSpPr>
        <p:spPr>
          <a:xfrm>
            <a:off x="2431911" y="4877672"/>
            <a:ext cx="7255082" cy="880374"/>
          </a:xfrm>
          <a:prstGeom prst="bentConnector3">
            <a:avLst>
              <a:gd name="adj1" fmla="val 55450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1124792" y="5372263"/>
            <a:ext cx="743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普惠卡券二维码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608186" y="1604263"/>
            <a:ext cx="5644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卡券二维码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1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如何添加管理账号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960" y="1251385"/>
            <a:ext cx="3835600" cy="27828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32" y="1250706"/>
            <a:ext cx="4217274" cy="3207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7" name="虚尾箭头 6"/>
          <p:cNvSpPr/>
          <p:nvPr/>
        </p:nvSpPr>
        <p:spPr>
          <a:xfrm>
            <a:off x="5092876" y="2239996"/>
            <a:ext cx="1411339" cy="838899"/>
          </a:xfrm>
          <a:prstGeom prst="strip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19618" y="94890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497875" y="948906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0" name="TextBox 17"/>
          <p:cNvSpPr txBox="1"/>
          <p:nvPr/>
        </p:nvSpPr>
        <p:spPr>
          <a:xfrm>
            <a:off x="1146158" y="4212002"/>
            <a:ext cx="75718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“*”为必填内容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）输入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用户名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（即登录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系统的账号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名，建议填写英文或数字）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）选择物业公司和停车场，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）输入密码，建议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6-8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位，也可以设置通用密码。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）选择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管理员等级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）保存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，账号创建成功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84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754" y="1279799"/>
            <a:ext cx="5188518" cy="2451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35" y="1279799"/>
            <a:ext cx="4468724" cy="32015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编辑</a:t>
            </a:r>
            <a:r>
              <a:rPr lang="zh-CN" altLang="en-US" dirty="0" smtClean="0"/>
              <a:t>管理账号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740494" y="105325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230658" y="105325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4" name="TextBox 17"/>
          <p:cNvSpPr txBox="1"/>
          <p:nvPr/>
        </p:nvSpPr>
        <p:spPr>
          <a:xfrm>
            <a:off x="893881" y="4985348"/>
            <a:ext cx="5504873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）点击编辑按钮，显示编辑页面。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）管理员用户名，不可修改。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26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70" y="1351796"/>
            <a:ext cx="4266667" cy="13714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60" y="1351796"/>
            <a:ext cx="4822294" cy="287421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</a:t>
            </a:r>
            <a:r>
              <a:rPr lang="zh-CN" altLang="en-US" dirty="0"/>
              <a:t>删除</a:t>
            </a:r>
            <a:r>
              <a:rPr lang="zh-CN" altLang="en-US" dirty="0" smtClean="0"/>
              <a:t>管理账号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740494" y="105325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6230658" y="1053258"/>
            <a:ext cx="453081" cy="453081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TextBox 17"/>
          <p:cNvSpPr txBox="1"/>
          <p:nvPr/>
        </p:nvSpPr>
        <p:spPr>
          <a:xfrm>
            <a:off x="967034" y="4449208"/>
            <a:ext cx="6350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删除有两种方式：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先勾选需要删除的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账号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，然后点击“选中的”中“删除”按钮进行删除。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）直接点击列表中的“删除”按钮。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）删除操作会显示提示框二次确认，删除后，该账号则不能再使用登录。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845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自定义 1">
      <a:dk1>
        <a:srgbClr val="3F3F3F"/>
      </a:dk1>
      <a:lt1>
        <a:srgbClr val="FFFFFF"/>
      </a:lt1>
      <a:dk2>
        <a:srgbClr val="3F3F3F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1362</TotalTime>
  <Words>1643</Words>
  <Application>Microsoft Office PowerPoint</Application>
  <PresentationFormat>宽屏</PresentationFormat>
  <Paragraphs>203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宋体</vt:lpstr>
      <vt:lpstr>微软雅黑</vt:lpstr>
      <vt:lpstr>Arial</vt:lpstr>
      <vt:lpstr>Calibri</vt:lpstr>
      <vt:lpstr>Office 主题</vt:lpstr>
      <vt:lpstr>《速宾电子支付管理平台》操作流程</vt:lpstr>
      <vt:lpstr>如何登录后台</vt:lpstr>
      <vt:lpstr>修改登录密码和登出</vt:lpstr>
      <vt:lpstr>首页操作</vt:lpstr>
      <vt:lpstr>如何创建物业公司</vt:lpstr>
      <vt:lpstr>如何搜索物业公司</vt:lpstr>
      <vt:lpstr>如何编辑物业公司</vt:lpstr>
      <vt:lpstr>如何删除物业公司</vt:lpstr>
      <vt:lpstr>如何创建停车场</vt:lpstr>
      <vt:lpstr>如何搜索停车场</vt:lpstr>
      <vt:lpstr>如何查看停车场信息</vt:lpstr>
      <vt:lpstr>如何编辑停车场信息</vt:lpstr>
      <vt:lpstr>如何删除停车场信息</vt:lpstr>
      <vt:lpstr>如何搜索用户信息</vt:lpstr>
      <vt:lpstr>如何查看用户信息</vt:lpstr>
      <vt:lpstr>如何删除用户信息</vt:lpstr>
      <vt:lpstr>如何筛选收费明细</vt:lpstr>
      <vt:lpstr>如何搜索收费明细</vt:lpstr>
      <vt:lpstr>如何查看收费明细</vt:lpstr>
      <vt:lpstr>如何编辑发票状态</vt:lpstr>
      <vt:lpstr>如何删除收费明细</vt:lpstr>
      <vt:lpstr>如何导出收费明细</vt:lpstr>
      <vt:lpstr>如何管理卡券</vt:lpstr>
      <vt:lpstr>如何创建卡券</vt:lpstr>
      <vt:lpstr>卡券各项功能</vt:lpstr>
      <vt:lpstr>如何查看卡券信息</vt:lpstr>
      <vt:lpstr>如何编辑和删除卡券</vt:lpstr>
      <vt:lpstr>如何导出卡券编号</vt:lpstr>
      <vt:lpstr>如何导出卡券二维码</vt:lpstr>
      <vt:lpstr>如何添加管理账号</vt:lpstr>
      <vt:lpstr>如何编辑管理账号</vt:lpstr>
      <vt:lpstr>如何删除管理账号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姚九龙</dc:creator>
  <cp:lastModifiedBy>Nicky</cp:lastModifiedBy>
  <cp:revision>225</cp:revision>
  <dcterms:created xsi:type="dcterms:W3CDTF">2014-11-01T08:47:13Z</dcterms:created>
  <dcterms:modified xsi:type="dcterms:W3CDTF">2016-05-13T13:26:34Z</dcterms:modified>
</cp:coreProperties>
</file>